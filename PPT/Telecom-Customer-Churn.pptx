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Outfit Extra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Telecom Customer Churn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E4CE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Intelligence &amp; Retention Analytics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An end-to-end data analytics project using SQL, Python &amp; Power BI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131171"/>
            <a:ext cx="1791251" cy="287139"/>
          </a:xfrm>
          <a:prstGeom prst="roundRect">
            <a:avLst>
              <a:gd name="adj" fmla="val 22118"/>
            </a:avLst>
          </a:prstGeom>
          <a:solidFill>
            <a:srgbClr val="D7D2F9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187825"/>
            <a:ext cx="217402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MYSQL WORKBENCH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19065" y="4131171"/>
            <a:ext cx="1609288" cy="287139"/>
          </a:xfrm>
          <a:prstGeom prst="roundRect">
            <a:avLst>
              <a:gd name="adj" fmla="val 22118"/>
            </a:avLst>
          </a:prstGeom>
          <a:solidFill>
            <a:srgbClr val="D7D2F9"/>
          </a:solidFill>
          <a:ln/>
        </p:spPr>
      </p:sp>
      <p:sp>
        <p:nvSpPr>
          <p:cNvPr id="8" name="Text 5"/>
          <p:cNvSpPr/>
          <p:nvPr/>
        </p:nvSpPr>
        <p:spPr>
          <a:xfrm>
            <a:off x="7232469" y="4187825"/>
            <a:ext cx="19920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(PANDAS)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822807" y="4131171"/>
            <a:ext cx="1743825" cy="287139"/>
          </a:xfrm>
          <a:prstGeom prst="roundRect">
            <a:avLst>
              <a:gd name="adj" fmla="val 22118"/>
            </a:avLst>
          </a:prstGeom>
          <a:solidFill>
            <a:srgbClr val="D7D2F9"/>
          </a:solidFill>
          <a:ln/>
        </p:spPr>
      </p:sp>
      <p:sp>
        <p:nvSpPr>
          <p:cNvPr id="10" name="Text 7"/>
          <p:cNvSpPr/>
          <p:nvPr/>
        </p:nvSpPr>
        <p:spPr>
          <a:xfrm>
            <a:off x="8936211" y="4187825"/>
            <a:ext cx="212660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BI DESKTOP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606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980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Business Problem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253530"/>
            <a:ext cx="629686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Customer churn is one of the most expensive problems a telecom company faces. Acquiring a new customer costs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5–7× more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than retaining an existing one — making early identification of at-risk customers a high-value capability.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160389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3119" y="2332037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Who is churning?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3119" y="2677319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Churn rate by contract type, payment method, and tenure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3241675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3119" y="3413323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Why are they leaving?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3119" y="3758605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Support tickets, service add-ons, and churn relationships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322961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3119" y="4494609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How much revenue?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3119" y="4839891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Annual revenue at risk from highest-risk active customers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5404247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119" y="5575895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What to do first?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3119" y="5921177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prioritized, revenue-ranked retention action list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Overview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analysis is built on a normalized relational database (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telecom_churn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) across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five related tables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mirroring how a real telecom's backend stores data.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3545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3526433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Engineered Columns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3721298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total_tickets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support tickets raised per customer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avg_satisfaction_score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average post-resolution rating (1–5)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Churn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'Yes' if customer has churn, 'No' active customer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3336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Tools &amp; Workflow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907480"/>
            <a:ext cx="945035" cy="11340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5517" y="2096492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MySQL Workbench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795517" y="2505174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storage, exploration, and multi-table extraction via SQL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041551"/>
            <a:ext cx="945035" cy="13915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95517" y="3230563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Python (Pandas)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795517" y="3639245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cleaning, missing-value treatment, and feature engineering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433094"/>
            <a:ext cx="945035" cy="13915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95517" y="462210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Power BI Desktop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795517" y="5030788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DAX measures and a two-page interactive executive dashboard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92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Phase 1 — SQL: Exploration &amp; Extraction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4235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Structural Checks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26643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Row counts confirmed across all 5 tables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Duplicate key check: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0 duplicate customer_ids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68657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Early Insights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170859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Overall churn rate: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26.54%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Month-to-month contracts churn at dramatically higher rates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Churned customers raise more support tickets on average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34235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Master Extraction Query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2826643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5 tables joined into one analysis-ready extract: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3299123"/>
            <a:ext cx="5203794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INNER JOINs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accounts &amp; services (1-to-1)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LEFT JOINs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tickets &amp; usage (not all customers have them)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COALESCE()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converts missing ticket counts to 0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AVG()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normalizes usage to per-month (not tenure-biased)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465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Phase 2 — Python: Cleaning &amp; Feature Engineering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4398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SQL extract (7,043 rows × 25 columns) was cleaned and enriched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31 columns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59026"/>
            <a:ext cx="3496877" cy="2614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183" y="328751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75881" y="394047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Type Correction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4349155"/>
            <a:ext cx="3068065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signup_date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converted from string to datetime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3159026"/>
            <a:ext cx="3496877" cy="2614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4067" y="328751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61766" y="394047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Missing Value Treatment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4349155"/>
            <a:ext cx="3068065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Usage columns → filled with 0 (no usage). Satisfaction → flagged with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has_support_ticket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before filling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3159026"/>
            <a:ext cx="3496877" cy="2614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9952" y="328751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247650" y="394047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4349155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Created: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tenure_bucket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annual_revenue_at_risk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total_addons_subscribed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is_churned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binary flag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774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Phase 3 — Power BI: Executive Overview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71563"/>
            <a:ext cx="6913390" cy="3917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3400" y="1686719"/>
            <a:ext cx="35230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Page 1 — Leadership View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013400" y="2129730"/>
            <a:ext cx="352307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Answers: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"What is happening and what is it costing us?"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13400" y="2828429"/>
            <a:ext cx="3523070" cy="3253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Four KPI cards: Total Customers, Revenue, Revenue Lost, Avg Monthly Charges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Donut chart confirming 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26.54% churn rate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(1.87K lost vs 5.17K retained)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Revenue impact by tenure: 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first-year customers represent the largest share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Churn risk drops from 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47.44%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(0–1 Year) to 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9.51%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(4+ Years)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Decomposition tree: contract → internet → payment → tenure drill-down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Phase 3 — Power BI: Retention Operations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318988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Page 2 — Action 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392388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Answers: </a:t>
            </a:r>
            <a:pPr algn="l" indent="0" marL="0">
              <a:lnSpc>
                <a:spcPct val="101000"/>
              </a:lnSpc>
              <a:buNone/>
            </a:pPr>
            <a:r>
              <a:rPr lang="en-US" sz="75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"Why is it happening and who do we act on first?"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3555603"/>
            <a:ext cx="5315512" cy="52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Tech Support impact: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Fiber customers without it churn at ~49% vs ~23% with it — nearly 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2× difference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Add-on effect: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Churn falls from ~46% (0 add-ons) to single digits (6 add-ons)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Support tickets: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Churn rate peaks at 3 tickets before volume drops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High-Risk Active Customers table: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Sorted by annual revenue — first row = highest-value save opportunity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7709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61475" y="1395909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0133" y="1430238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250720" y="1458813"/>
            <a:ext cx="570761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26.54% overall churn rate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50720" y="1851223"/>
            <a:ext cx="570761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Roughly 1 in 4 customers has left — well above healthy for a subscription service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1475" y="2782788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0133" y="2817118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250720" y="2845693"/>
            <a:ext cx="570761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Contract type is the strongest driver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50720" y="3238103"/>
            <a:ext cx="570761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Month-to-month customers churn far more than annual or two-year holders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1475" y="4169668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0133" y="4203998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1250720" y="4232573"/>
            <a:ext cx="570761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Churn risk is front-loaded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50720" y="4624983"/>
            <a:ext cx="570761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47.44%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 year one vs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9.51%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after 4+ years — protect the first 12 months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1475" y="5556548"/>
            <a:ext cx="411946" cy="411956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0133" y="5590877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1250720" y="5619452"/>
            <a:ext cx="570761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 Support cuts Fiber churn nearly in half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50720" y="6011863"/>
            <a:ext cx="5707614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~49% without vs ~23% with the add-on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550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Recommendations &amp; Conclusion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59520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Business Recommendations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851" y="2032000"/>
            <a:ext cx="265800" cy="265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7326" y="2023269"/>
            <a:ext cx="46424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Prioritize retention in the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first 12 months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not evenly across all tenures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851" y="2913459"/>
            <a:ext cx="265800" cy="2658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7326" y="2904728"/>
            <a:ext cx="4642428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Incentivize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month-to-month → annual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contract migration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851" y="3785989"/>
            <a:ext cx="265800" cy="2658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7326" y="3777258"/>
            <a:ext cx="4642428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Bundle free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Tech Support trials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new Fiber customers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7851" y="4658519"/>
            <a:ext cx="265800" cy="2658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37326" y="4649788"/>
            <a:ext cx="46424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Route customers with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2+ support tickets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into proactive retention workflows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851" y="5539978"/>
            <a:ext cx="265800" cy="26580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37326" y="5531247"/>
            <a:ext cx="4642428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Action the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High-Risk Active Customers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table — already sorted by revenue impact</a:t>
            </a:r>
            <a:endParaRPr lang="en-US" sz="1350" dirty="0"/>
          </a:p>
        </p:txBody>
      </p:sp>
      <p:sp>
        <p:nvSpPr>
          <p:cNvPr id="14" name="Shape 7"/>
          <p:cNvSpPr/>
          <p:nvPr/>
        </p:nvSpPr>
        <p:spPr>
          <a:xfrm>
            <a:off x="6190797" y="1393428"/>
            <a:ext cx="5473265" cy="4873923"/>
          </a:xfrm>
          <a:prstGeom prst="roundRect">
            <a:avLst>
              <a:gd name="adj" fmla="val 2618"/>
            </a:avLst>
          </a:prstGeom>
          <a:solidFill>
            <a:srgbClr val="5E4CE6">
              <a:alpha val="95000"/>
            </a:srgbClr>
          </a:solidFill>
          <a:ln/>
        </p:spPr>
      </p:sp>
      <p:sp>
        <p:nvSpPr>
          <p:cNvPr id="15" name="Text 8"/>
          <p:cNvSpPr/>
          <p:nvPr/>
        </p:nvSpPr>
        <p:spPr>
          <a:xfrm>
            <a:off x="6367998" y="1559520"/>
            <a:ext cx="511886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Project Takeaway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6367998" y="2002532"/>
            <a:ext cx="5118865" cy="179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complete, realistic analytics workflow: normalized SQL database → documented Python cleaning → a two-page Power BI dashboard built around </a:t>
            </a:r>
            <a:pPr algn="l" indent="0" marL="0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two distinct audiences and decisions</a:t>
            </a:r>
            <a:pPr algn="l" indent="0" marL="0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dashboard number traces back to an explainable step in the code.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2026-09-14T14:11:21Z</dcterms:created>
  <dcterms:modified xsi:type="dcterms:W3CDTF">2026-09-14T14:11:21Z</dcterms:modified>
</cp:coreProperties>
</file>